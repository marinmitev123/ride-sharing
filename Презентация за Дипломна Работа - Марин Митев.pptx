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embeddedFontLst>
    <p:embeddedFont>
      <p:font typeface="Calibri" panose="020F0502020204030204" pitchFamily="34" charset="0"/>
      <p:regular r:id="rId14"/>
      <p:bold r:id="rId15"/>
      <p:italic r:id="rId16"/>
      <p:boldItalic r:id="rId17"/>
    </p:embeddedFont>
    <p:embeddedFont>
      <p:font typeface="Inter" panose="020B0604020202020204" charset="0"/>
      <p:regular r:id="rId18"/>
      <p:bold r:id="rId19"/>
      <p:italic r:id="rId20"/>
      <p:boldItalic r:id="rId21"/>
    </p:embeddedFont>
    <p:embeddedFont>
      <p:font typeface="Inter SemiBold" panose="020B0604020202020204" charset="0"/>
      <p:regular r:id="rId22"/>
      <p:bold r:id="rId23"/>
      <p:italic r:id="rId24"/>
      <p:boldItalic r:id="rId25"/>
    </p:embeddedFont>
    <p:embeddedFont>
      <p:font typeface="Poppins" panose="00000500000000000000" pitchFamily="2" charset="0"/>
      <p:regular r:id="rId26"/>
      <p:bold r:id="rId27"/>
      <p:italic r:id="rId28"/>
      <p:boldItalic r:id="rId2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AF1AF5AD-C68E-4F06-A9BE-509273B7B0B5}">
  <a:tblStyle styleId="{AF1AF5AD-C68E-4F06-A9BE-509273B7B0B5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7" d="100"/>
          <a:sy n="107" d="100"/>
        </p:scale>
        <p:origin x="714" y="10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26" Type="http://schemas.openxmlformats.org/officeDocument/2006/relationships/font" Target="fonts/font13.fntdata"/><Relationship Id="rId3" Type="http://schemas.openxmlformats.org/officeDocument/2006/relationships/slide" Target="slides/slide2.xml"/><Relationship Id="rId21" Type="http://schemas.openxmlformats.org/officeDocument/2006/relationships/font" Target="fonts/font8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5" Type="http://schemas.openxmlformats.org/officeDocument/2006/relationships/font" Target="fonts/font12.fntdata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font" Target="fonts/font7.fntdata"/><Relationship Id="rId29" Type="http://schemas.openxmlformats.org/officeDocument/2006/relationships/font" Target="fonts/font1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1.fntdata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font" Target="fonts/font10.fntdata"/><Relationship Id="rId28" Type="http://schemas.openxmlformats.org/officeDocument/2006/relationships/font" Target="fonts/font15.fntdata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font" Target="fonts/font9.fntdata"/><Relationship Id="rId27" Type="http://schemas.openxmlformats.org/officeDocument/2006/relationships/font" Target="fonts/font14.fntdata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" name="Google Shape;9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5" name="Google Shape;11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8" name="Google Shape;138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3" name="Google Shape;163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0" name="Google Shape;180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" name="Google Shape;199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6" name="Google Shape;226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3" name="Google Shape;243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0" name="Google Shape;260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2" name="Google Shape;272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1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11" Type="http://schemas.openxmlformats.org/officeDocument/2006/relationships/image" Target="../media/image15.png"/><Relationship Id="rId5" Type="http://schemas.openxmlformats.org/officeDocument/2006/relationships/image" Target="../media/image9.png"/><Relationship Id="rId10" Type="http://schemas.openxmlformats.org/officeDocument/2006/relationships/image" Target="../media/image14.png"/><Relationship Id="rId4" Type="http://schemas.openxmlformats.org/officeDocument/2006/relationships/image" Target="../media/image8.png"/><Relationship Id="rId9" Type="http://schemas.openxmlformats.org/officeDocument/2006/relationships/image" Target="../media/image1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2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1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3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809750" y="4462760"/>
            <a:ext cx="8572500" cy="909637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3"/>
          <p:cNvSpPr txBox="1"/>
          <p:nvPr/>
        </p:nvSpPr>
        <p:spPr>
          <a:xfrm>
            <a:off x="4414837" y="1485602"/>
            <a:ext cx="3362325" cy="180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64748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ТЕХНИЧЕСКИ УНИВЕРСИТЕТ - СОФИЯ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4067175" y="1723727"/>
            <a:ext cx="4057650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ФАКУЛТЕТ ПО КОМПЮТЪРНИ СИСТЕМИ И ТЕХНОЛОГИИ</a:t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1345406" y="2161877"/>
            <a:ext cx="9501187" cy="15769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50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Проектиране и разработване на уеб-базирана система за организиране на споделени пътувания</a:t>
            </a:r>
            <a:endParaRPr/>
          </a:p>
        </p:txBody>
      </p:sp>
      <p:pic>
        <p:nvPicPr>
          <p:cNvPr id="89" name="Google Shape;89;p1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591050" y="3853160"/>
            <a:ext cx="3009900" cy="276225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13"/>
          <p:cNvSpPr txBox="1"/>
          <p:nvPr/>
        </p:nvSpPr>
        <p:spPr>
          <a:xfrm>
            <a:off x="1809750" y="4710410"/>
            <a:ext cx="4095750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0EA5E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ДИПЛОМАНТ</a:t>
            </a:r>
            <a:endParaRPr/>
          </a:p>
        </p:txBody>
      </p:sp>
      <p:sp>
        <p:nvSpPr>
          <p:cNvPr id="91" name="Google Shape;91;p13"/>
          <p:cNvSpPr txBox="1"/>
          <p:nvPr/>
        </p:nvSpPr>
        <p:spPr>
          <a:xfrm>
            <a:off x="1809750" y="4891385"/>
            <a:ext cx="409575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Марин Ангелов Митев</a:t>
            </a:r>
            <a:endParaRPr/>
          </a:p>
        </p:txBody>
      </p:sp>
      <p:sp>
        <p:nvSpPr>
          <p:cNvPr id="92" name="Google Shape;92;p13"/>
          <p:cNvSpPr txBox="1"/>
          <p:nvPr/>
        </p:nvSpPr>
        <p:spPr>
          <a:xfrm>
            <a:off x="1809750" y="5186660"/>
            <a:ext cx="4095750" cy="185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Спец. КСИ, Фак. № 121222129</a:t>
            </a:r>
            <a:endParaRPr/>
          </a:p>
        </p:txBody>
      </p:sp>
      <p:sp>
        <p:nvSpPr>
          <p:cNvPr id="93" name="Google Shape;93;p13"/>
          <p:cNvSpPr txBox="1"/>
          <p:nvPr/>
        </p:nvSpPr>
        <p:spPr>
          <a:xfrm>
            <a:off x="6286500" y="4710410"/>
            <a:ext cx="4095750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0EA5E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НАУЧЕН РЪКОВОДИТЕЛ</a:t>
            </a:r>
            <a:endParaRPr/>
          </a:p>
        </p:txBody>
      </p:sp>
      <p:sp>
        <p:nvSpPr>
          <p:cNvPr id="94" name="Google Shape;94;p13"/>
          <p:cNvSpPr txBox="1"/>
          <p:nvPr/>
        </p:nvSpPr>
        <p:spPr>
          <a:xfrm>
            <a:off x="6286500" y="4891385"/>
            <a:ext cx="409575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ас. инж. Богдан Данов</a:t>
            </a:r>
            <a:endParaRPr/>
          </a:p>
        </p:txBody>
      </p:sp>
      <p:sp>
        <p:nvSpPr>
          <p:cNvPr id="95" name="Google Shape;95;p13"/>
          <p:cNvSpPr txBox="1"/>
          <p:nvPr/>
        </p:nvSpPr>
        <p:spPr>
          <a:xfrm>
            <a:off x="6286500" y="5186660"/>
            <a:ext cx="4095750" cy="185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София, 2026 г.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8650" y="2505075"/>
            <a:ext cx="5276850" cy="2390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" name="Google Shape;102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286500" y="2505075"/>
            <a:ext cx="5276850" cy="2390775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4"/>
          <p:cNvSpPr txBox="1"/>
          <p:nvPr/>
        </p:nvSpPr>
        <p:spPr>
          <a:xfrm>
            <a:off x="1190625" y="2743200"/>
            <a:ext cx="4660582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EA5E9"/>
                </a:solidFill>
                <a:latin typeface="Poppins"/>
                <a:ea typeface="Poppins"/>
                <a:cs typeface="Poppins"/>
                <a:sym typeface="Poppins"/>
              </a:rPr>
              <a:t>Проблемна област</a:t>
            </a:r>
            <a:endParaRPr/>
          </a:p>
        </p:txBody>
      </p:sp>
      <p:sp>
        <p:nvSpPr>
          <p:cNvPr id="104" name="Google Shape;104;p14"/>
          <p:cNvSpPr txBox="1"/>
          <p:nvPr/>
        </p:nvSpPr>
        <p:spPr>
          <a:xfrm>
            <a:off x="904875" y="3143250"/>
            <a:ext cx="47244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Организацията на споделени пътувания у нас в момента е силно фрагментирана в неформални канали (напр. Facebook групи).</a:t>
            </a:r>
            <a:endParaRPr/>
          </a:p>
        </p:txBody>
      </p:sp>
      <p:sp>
        <p:nvSpPr>
          <p:cNvPr id="105" name="Google Shape;105;p14"/>
          <p:cNvSpPr txBox="1"/>
          <p:nvPr/>
        </p:nvSpPr>
        <p:spPr>
          <a:xfrm>
            <a:off x="904875" y="3971925"/>
            <a:ext cx="47244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Основни дефицити:</a:t>
            </a:r>
            <a:r>
              <a:rPr lang="en-US" sz="12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липса на структура на обявите, нулева проследимост на заетите места, слаба координация и ниско ниво на сигурност на потребителските данни.</a:t>
            </a:r>
            <a:endParaRPr/>
          </a:p>
        </p:txBody>
      </p:sp>
      <p:sp>
        <p:nvSpPr>
          <p:cNvPr id="106" name="Google Shape;106;p14"/>
          <p:cNvSpPr txBox="1"/>
          <p:nvPr/>
        </p:nvSpPr>
        <p:spPr>
          <a:xfrm>
            <a:off x="6877050" y="2743200"/>
            <a:ext cx="4630578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EA5E9"/>
                </a:solidFill>
                <a:latin typeface="Poppins"/>
                <a:ea typeface="Poppins"/>
                <a:cs typeface="Poppins"/>
                <a:sym typeface="Poppins"/>
              </a:rPr>
              <a:t>Предложено решение</a:t>
            </a:r>
            <a:endParaRPr/>
          </a:p>
        </p:txBody>
      </p:sp>
      <p:sp>
        <p:nvSpPr>
          <p:cNvPr id="107" name="Google Shape;107;p14"/>
          <p:cNvSpPr txBox="1"/>
          <p:nvPr/>
        </p:nvSpPr>
        <p:spPr>
          <a:xfrm>
            <a:off x="6591300" y="3143250"/>
            <a:ext cx="4695825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Проектиране и изграждане на цялостна, сигурна и мащабируема SPA платформа, която централизира жизнения цикъл на пътуването.</a:t>
            </a:r>
            <a:endParaRPr/>
          </a:p>
        </p:txBody>
      </p:sp>
      <p:sp>
        <p:nvSpPr>
          <p:cNvPr id="108" name="Google Shape;108;p14"/>
          <p:cNvSpPr txBox="1"/>
          <p:nvPr/>
        </p:nvSpPr>
        <p:spPr>
          <a:xfrm>
            <a:off x="6591300" y="3971925"/>
            <a:ext cx="4695825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Осигурява търсене по маршрути в реално време, интерактивна картография, асинхронен чат и сигурни плащания.</a:t>
            </a:r>
            <a:endParaRPr/>
          </a:p>
        </p:txBody>
      </p:sp>
      <p:pic>
        <p:nvPicPr>
          <p:cNvPr id="109" name="Google Shape;109;p1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04875" y="2790825"/>
            <a:ext cx="19050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" name="Google Shape;110;p14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591300" y="2790825"/>
            <a:ext cx="190500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4"/>
          <p:cNvSpPr txBox="1"/>
          <p:nvPr/>
        </p:nvSpPr>
        <p:spPr>
          <a:xfrm>
            <a:off x="800100" y="533400"/>
            <a:ext cx="11301412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ЦЕЛ НА РАЗРАБОТКАТА</a:t>
            </a:r>
            <a:endParaRPr/>
          </a:p>
        </p:txBody>
      </p:sp>
      <p:sp>
        <p:nvSpPr>
          <p:cNvPr id="112" name="Google Shape;112;p14"/>
          <p:cNvSpPr/>
          <p:nvPr/>
        </p:nvSpPr>
        <p:spPr>
          <a:xfrm>
            <a:off x="628650" y="533400"/>
            <a:ext cx="57150" cy="30480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7" name="Google Shape;117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" name="Google Shape;118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8650" y="2443311"/>
            <a:ext cx="2590800" cy="2514302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409950" y="2443311"/>
            <a:ext cx="2590800" cy="2514302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" name="Google Shape;120;p1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191250" y="2443311"/>
            <a:ext cx="2590800" cy="2514302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" name="Google Shape;121;p15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972550" y="2443311"/>
            <a:ext cx="2590800" cy="2514302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5"/>
          <p:cNvSpPr txBox="1"/>
          <p:nvPr/>
        </p:nvSpPr>
        <p:spPr>
          <a:xfrm>
            <a:off x="773906" y="3348186"/>
            <a:ext cx="2300287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Java &amp; Spring Boot</a:t>
            </a:r>
            <a:endParaRPr/>
          </a:p>
        </p:txBody>
      </p:sp>
      <p:sp>
        <p:nvSpPr>
          <p:cNvPr id="123" name="Google Shape;123;p15"/>
          <p:cNvSpPr txBox="1"/>
          <p:nvPr/>
        </p:nvSpPr>
        <p:spPr>
          <a:xfrm>
            <a:off x="828675" y="3700611"/>
            <a:ext cx="2190750" cy="7465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Изграждане на надежден REST API слой със стабилна трислойна архитектура и защита чрез Spring Security.</a:t>
            </a:r>
            <a:endParaRPr/>
          </a:p>
        </p:txBody>
      </p:sp>
      <p:sp>
        <p:nvSpPr>
          <p:cNvPr id="124" name="Google Shape;124;p15"/>
          <p:cNvSpPr txBox="1"/>
          <p:nvPr/>
        </p:nvSpPr>
        <p:spPr>
          <a:xfrm>
            <a:off x="3555206" y="3376761"/>
            <a:ext cx="2300287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React &amp; TypeScript</a:t>
            </a:r>
            <a:endParaRPr/>
          </a:p>
        </p:txBody>
      </p:sp>
      <p:sp>
        <p:nvSpPr>
          <p:cNvPr id="125" name="Google Shape;125;p15"/>
          <p:cNvSpPr txBox="1"/>
          <p:nvPr/>
        </p:nvSpPr>
        <p:spPr>
          <a:xfrm>
            <a:off x="3609975" y="3729186"/>
            <a:ext cx="2190750" cy="7465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Създаване на Single Page Application (SPA) с бързо рендиране, модулен UI дизайн и статична типизация на данните.</a:t>
            </a:r>
            <a:endParaRPr/>
          </a:p>
        </p:txBody>
      </p:sp>
      <p:sp>
        <p:nvSpPr>
          <p:cNvPr id="126" name="Google Shape;126;p15"/>
          <p:cNvSpPr txBox="1"/>
          <p:nvPr/>
        </p:nvSpPr>
        <p:spPr>
          <a:xfrm>
            <a:off x="6336506" y="3348186"/>
            <a:ext cx="2300287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MySQL &amp; Hibernate</a:t>
            </a:r>
            <a:endParaRPr/>
          </a:p>
        </p:txBody>
      </p:sp>
      <p:sp>
        <p:nvSpPr>
          <p:cNvPr id="127" name="Google Shape;127;p15"/>
          <p:cNvSpPr txBox="1"/>
          <p:nvPr/>
        </p:nvSpPr>
        <p:spPr>
          <a:xfrm>
            <a:off x="6391275" y="3700611"/>
            <a:ext cx="2190750" cy="9331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Релационен модел база данни с автоматизирано ORM картографиране и транзакционна цялост при резервации.</a:t>
            </a:r>
            <a:endParaRPr/>
          </a:p>
        </p:txBody>
      </p:sp>
      <p:sp>
        <p:nvSpPr>
          <p:cNvPr id="128" name="Google Shape;128;p15"/>
          <p:cNvSpPr txBox="1"/>
          <p:nvPr/>
        </p:nvSpPr>
        <p:spPr>
          <a:xfrm>
            <a:off x="9117806" y="3376761"/>
            <a:ext cx="2300287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Интеграции</a:t>
            </a:r>
            <a:endParaRPr/>
          </a:p>
        </p:txBody>
      </p:sp>
      <p:sp>
        <p:nvSpPr>
          <p:cNvPr id="129" name="Google Shape;129;p15"/>
          <p:cNvSpPr txBox="1"/>
          <p:nvPr/>
        </p:nvSpPr>
        <p:spPr>
          <a:xfrm>
            <a:off x="9172575" y="3729186"/>
            <a:ext cx="2190750" cy="9331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Картография Leaflet (OpenStreetMap), сигурни банкови транзакции Stripe Checkout и Kraken API за обработка.</a:t>
            </a:r>
            <a:endParaRPr/>
          </a:p>
        </p:txBody>
      </p:sp>
      <p:pic>
        <p:nvPicPr>
          <p:cNvPr id="130" name="Google Shape;130;p15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781175" y="2776686"/>
            <a:ext cx="28575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" name="Google Shape;131;p15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4514850" y="2805261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15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7319962" y="2776686"/>
            <a:ext cx="333375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" name="Google Shape;133;p15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10101262" y="2805261"/>
            <a:ext cx="333375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15"/>
          <p:cNvSpPr txBox="1"/>
          <p:nvPr/>
        </p:nvSpPr>
        <p:spPr>
          <a:xfrm>
            <a:off x="800100" y="533400"/>
            <a:ext cx="11301412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ТЕХНОЛОГИЧЕН СТЕК</a:t>
            </a:r>
            <a:endParaRPr/>
          </a:p>
        </p:txBody>
      </p:sp>
      <p:sp>
        <p:nvSpPr>
          <p:cNvPr id="135" name="Google Shape;135;p15"/>
          <p:cNvSpPr/>
          <p:nvPr/>
        </p:nvSpPr>
        <p:spPr>
          <a:xfrm>
            <a:off x="628650" y="533400"/>
            <a:ext cx="57150" cy="30480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0" name="Google Shape;140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" name="Google Shape;141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8650" y="2369343"/>
            <a:ext cx="10934700" cy="2662237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42" name="Google Shape;142;p16"/>
          <p:cNvGraphicFramePr/>
          <p:nvPr/>
        </p:nvGraphicFramePr>
        <p:xfrm>
          <a:off x="638175" y="2378868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{AF1AF5AD-C68E-4F06-A9BE-509273B7B0B5}</a:tableStyleId>
              </a:tblPr>
              <a:tblGrid>
                <a:gridCol w="22883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883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022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9366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286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25" b="0" i="0" u="none" strike="noStrike" cap="none">
                          <a:solidFill>
                            <a:srgbClr val="0F172A"/>
                          </a:solidFill>
                          <a:latin typeface="Inter SemiBold"/>
                          <a:ea typeface="Inter SemiBold"/>
                          <a:cs typeface="Inter SemiBold"/>
                          <a:sym typeface="Inter SemiBold"/>
                        </a:rPr>
                        <a:t>Критерий за съпоставка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25" b="0" i="0" u="none" strike="noStrike" cap="none">
                          <a:solidFill>
                            <a:srgbClr val="0F172A"/>
                          </a:solidFill>
                          <a:latin typeface="Inter SemiBold"/>
                          <a:ea typeface="Inter SemiBold"/>
                          <a:cs typeface="Inter SemiBold"/>
                          <a:sym typeface="Inter SemiBold"/>
                        </a:rPr>
                        <a:t>Групи в соц. мрежи (FB)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25" b="0" i="0" u="none" strike="noStrike" cap="none">
                          <a:solidFill>
                            <a:srgbClr val="0F172A"/>
                          </a:solidFill>
                          <a:latin typeface="Inter SemiBold"/>
                          <a:ea typeface="Inter SemiBold"/>
                          <a:cs typeface="Inter SemiBold"/>
                          <a:sym typeface="Inter SemiBold"/>
                        </a:rPr>
                        <a:t>BlaBlaCar / Poparide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25" b="0" i="0" u="none" strike="noStrike" cap="none">
                          <a:solidFill>
                            <a:srgbClr val="0F172A"/>
                          </a:solidFill>
                          <a:latin typeface="Inter SemiBold"/>
                          <a:ea typeface="Inter SemiBold"/>
                          <a:cs typeface="Inter SemiBold"/>
                          <a:sym typeface="Inter SemiBold"/>
                        </a:rPr>
                        <a:t>Разработената система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86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25" b="1" i="0" u="none" strike="noStrike" cap="non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Структурираност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25" b="0" i="0" u="none" strike="noStrike" cap="non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Няма (свободен неформален текст)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25" b="0" i="0" u="none" strike="noStrike" cap="non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Висока (стандартизирана)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25" b="0" i="0" u="none" strike="noStrike" cap="none">
                          <a:solidFill>
                            <a:srgbClr val="0EA5E9"/>
                          </a:solidFill>
                          <a:latin typeface="Inter SemiBold"/>
                          <a:ea typeface="Inter SemiBold"/>
                          <a:cs typeface="Inter SemiBold"/>
                          <a:sym typeface="Inter SemiBold"/>
                        </a:rPr>
                        <a:t>Висока (шаблонна, с адреси)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86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25" b="1" i="0" u="none" strike="noStrike" cap="non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Управление на местата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25" b="0" i="0" u="none" strike="noStrike" cap="non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Ръчно през коментари/ЛС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25" b="0" i="0" u="none" strike="noStrike" cap="non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Автоматично през системата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25" b="0" i="0" u="none" strike="noStrike" cap="none">
                          <a:solidFill>
                            <a:srgbClr val="0EA5E9"/>
                          </a:solidFill>
                          <a:latin typeface="Inter SemiBold"/>
                          <a:ea typeface="Inter SemiBold"/>
                          <a:cs typeface="Inter SemiBold"/>
                          <a:sym typeface="Inter SemiBold"/>
                        </a:rPr>
                        <a:t>Автоматично в реално време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86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25" b="1" i="0" u="none" strike="noStrike" cap="non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Интегрирана карта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25" b="0" i="0" u="none" strike="noStrike" cap="non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Липсва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25" b="0" i="0" u="none" strike="noStrike" cap="non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Частична локализация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25" b="0" i="0" u="none" strike="noStrike" cap="none">
                          <a:solidFill>
                            <a:srgbClr val="0EA5E9"/>
                          </a:solidFill>
                          <a:latin typeface="Inter SemiBold"/>
                          <a:ea typeface="Inter SemiBold"/>
                          <a:cs typeface="Inter SemiBold"/>
                          <a:sym typeface="Inter SemiBold"/>
                        </a:rPr>
                        <a:t>Пълна (Leaflet / OpenStreetMap)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286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25" b="1" i="0" u="none" strike="noStrike" cap="non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Комисионни такси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25" b="0" i="0" u="none" strike="noStrike" cap="non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Без такси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25" b="0" i="0" u="none" strike="noStrike" cap="non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Висока такса за транзакция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25" b="0" i="0" u="none" strike="noStrike" cap="none">
                          <a:solidFill>
                            <a:srgbClr val="0EA5E9"/>
                          </a:solidFill>
                          <a:latin typeface="Inter SemiBold"/>
                          <a:ea typeface="Inter SemiBold"/>
                          <a:cs typeface="Inter SemiBold"/>
                          <a:sym typeface="Inter SemiBold"/>
                        </a:rPr>
                        <a:t>0% такса (локална уеб система)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43" name="Google Shape;143;p16"/>
          <p:cNvSpPr/>
          <p:nvPr/>
        </p:nvSpPr>
        <p:spPr>
          <a:xfrm>
            <a:off x="638175" y="2888456"/>
            <a:ext cx="2288381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16"/>
          <p:cNvSpPr/>
          <p:nvPr/>
        </p:nvSpPr>
        <p:spPr>
          <a:xfrm>
            <a:off x="2926556" y="2888456"/>
            <a:ext cx="3088332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16"/>
          <p:cNvSpPr/>
          <p:nvPr/>
        </p:nvSpPr>
        <p:spPr>
          <a:xfrm>
            <a:off x="6014888" y="2888456"/>
            <a:ext cx="2602259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16"/>
          <p:cNvSpPr/>
          <p:nvPr/>
        </p:nvSpPr>
        <p:spPr>
          <a:xfrm>
            <a:off x="8617148" y="2888456"/>
            <a:ext cx="2936676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16"/>
          <p:cNvSpPr/>
          <p:nvPr/>
        </p:nvSpPr>
        <p:spPr>
          <a:xfrm>
            <a:off x="638175" y="3431381"/>
            <a:ext cx="2288381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16"/>
          <p:cNvSpPr/>
          <p:nvPr/>
        </p:nvSpPr>
        <p:spPr>
          <a:xfrm>
            <a:off x="2926556" y="3431381"/>
            <a:ext cx="3088332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6"/>
          <p:cNvSpPr/>
          <p:nvPr/>
        </p:nvSpPr>
        <p:spPr>
          <a:xfrm>
            <a:off x="6014888" y="3431381"/>
            <a:ext cx="2602259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16"/>
          <p:cNvSpPr/>
          <p:nvPr/>
        </p:nvSpPr>
        <p:spPr>
          <a:xfrm>
            <a:off x="8617148" y="3431381"/>
            <a:ext cx="2936676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16"/>
          <p:cNvSpPr/>
          <p:nvPr/>
        </p:nvSpPr>
        <p:spPr>
          <a:xfrm>
            <a:off x="638175" y="3960018"/>
            <a:ext cx="2288381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16"/>
          <p:cNvSpPr/>
          <p:nvPr/>
        </p:nvSpPr>
        <p:spPr>
          <a:xfrm>
            <a:off x="2926556" y="3960018"/>
            <a:ext cx="3088332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16"/>
          <p:cNvSpPr/>
          <p:nvPr/>
        </p:nvSpPr>
        <p:spPr>
          <a:xfrm>
            <a:off x="6014888" y="3960018"/>
            <a:ext cx="2602259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16"/>
          <p:cNvSpPr/>
          <p:nvPr/>
        </p:nvSpPr>
        <p:spPr>
          <a:xfrm>
            <a:off x="8617148" y="3960018"/>
            <a:ext cx="2936676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16"/>
          <p:cNvSpPr/>
          <p:nvPr/>
        </p:nvSpPr>
        <p:spPr>
          <a:xfrm>
            <a:off x="638175" y="4488656"/>
            <a:ext cx="2288381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16"/>
          <p:cNvSpPr/>
          <p:nvPr/>
        </p:nvSpPr>
        <p:spPr>
          <a:xfrm>
            <a:off x="2926556" y="4488656"/>
            <a:ext cx="3088332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16"/>
          <p:cNvSpPr/>
          <p:nvPr/>
        </p:nvSpPr>
        <p:spPr>
          <a:xfrm>
            <a:off x="6014888" y="4488656"/>
            <a:ext cx="2602259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16"/>
          <p:cNvSpPr/>
          <p:nvPr/>
        </p:nvSpPr>
        <p:spPr>
          <a:xfrm>
            <a:off x="8617148" y="4488656"/>
            <a:ext cx="2936676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16"/>
          <p:cNvSpPr txBox="1"/>
          <p:nvPr/>
        </p:nvSpPr>
        <p:spPr>
          <a:xfrm>
            <a:off x="800100" y="533400"/>
            <a:ext cx="11301412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АНАЛИЗ НА РЕШЕНИЯТА</a:t>
            </a:r>
            <a:endParaRPr/>
          </a:p>
        </p:txBody>
      </p:sp>
      <p:sp>
        <p:nvSpPr>
          <p:cNvPr id="160" name="Google Shape;160;p16"/>
          <p:cNvSpPr/>
          <p:nvPr/>
        </p:nvSpPr>
        <p:spPr>
          <a:xfrm>
            <a:off x="628650" y="533400"/>
            <a:ext cx="57150" cy="30480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5" name="Google Shape;165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6" name="Google Shape;166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86500" y="1890712"/>
            <a:ext cx="5276850" cy="3619500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17"/>
          <p:cNvSpPr txBox="1"/>
          <p:nvPr/>
        </p:nvSpPr>
        <p:spPr>
          <a:xfrm>
            <a:off x="628650" y="2614612"/>
            <a:ext cx="5540692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38125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Трислоен модел &amp; MVC</a:t>
            </a:r>
            <a:endParaRPr/>
          </a:p>
        </p:txBody>
      </p:sp>
      <p:pic>
        <p:nvPicPr>
          <p:cNvPr id="168" name="Google Shape;168;p1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28650" y="2662237"/>
            <a:ext cx="238125" cy="209550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p17"/>
          <p:cNvSpPr txBox="1"/>
          <p:nvPr/>
        </p:nvSpPr>
        <p:spPr>
          <a:xfrm>
            <a:off x="895350" y="3071812"/>
            <a:ext cx="501015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Модел (Model):</a:t>
            </a:r>
            <a:r>
              <a:rPr lang="en-US" sz="12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Картиран чрез JPA (Hibernate) субекти и управляван от Spring Data JPA Service слой.</a:t>
            </a:r>
            <a:endParaRPr/>
          </a:p>
        </p:txBody>
      </p:sp>
      <p:sp>
        <p:nvSpPr>
          <p:cNvPr id="170" name="Google Shape;170;p17"/>
          <p:cNvSpPr txBox="1"/>
          <p:nvPr/>
        </p:nvSpPr>
        <p:spPr>
          <a:xfrm>
            <a:off x="895350" y="3643312"/>
            <a:ext cx="501015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Контролер (Controller):</a:t>
            </a:r>
            <a:r>
              <a:rPr lang="en-US" sz="12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REST endpoints, обработващи JSON заявки и издаващи безсъстоятелни JWT токени.</a:t>
            </a:r>
            <a:endParaRPr/>
          </a:p>
        </p:txBody>
      </p:sp>
      <p:sp>
        <p:nvSpPr>
          <p:cNvPr id="171" name="Google Shape;171;p17"/>
          <p:cNvSpPr txBox="1"/>
          <p:nvPr/>
        </p:nvSpPr>
        <p:spPr>
          <a:xfrm>
            <a:off x="895350" y="4214812"/>
            <a:ext cx="501015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Изглед (View):</a:t>
            </a:r>
            <a:r>
              <a:rPr lang="en-US" sz="12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Самостоятелно React SPA клиентско приложение, обменящо данни асинхронно чрез API модули.</a:t>
            </a:r>
            <a:endParaRPr/>
          </a:p>
        </p:txBody>
      </p:sp>
      <p:pic>
        <p:nvPicPr>
          <p:cNvPr id="172" name="Google Shape;172;p17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296025" y="1900237"/>
            <a:ext cx="2333625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17"/>
          <p:cNvSpPr txBox="1"/>
          <p:nvPr/>
        </p:nvSpPr>
        <p:spPr>
          <a:xfrm>
            <a:off x="676275" y="3071812"/>
            <a:ext cx="171450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0EA5E9"/>
                </a:solidFill>
                <a:latin typeface="Inter"/>
                <a:ea typeface="Inter"/>
                <a:cs typeface="Inter"/>
                <a:sym typeface="Inter"/>
              </a:rPr>
              <a:t>→</a:t>
            </a:r>
            <a:endParaRPr/>
          </a:p>
        </p:txBody>
      </p:sp>
      <p:sp>
        <p:nvSpPr>
          <p:cNvPr id="174" name="Google Shape;174;p17"/>
          <p:cNvSpPr txBox="1"/>
          <p:nvPr/>
        </p:nvSpPr>
        <p:spPr>
          <a:xfrm>
            <a:off x="676275" y="3643312"/>
            <a:ext cx="171450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0EA5E9"/>
                </a:solidFill>
                <a:latin typeface="Inter"/>
                <a:ea typeface="Inter"/>
                <a:cs typeface="Inter"/>
                <a:sym typeface="Inter"/>
              </a:rPr>
              <a:t>→</a:t>
            </a:r>
            <a:endParaRPr/>
          </a:p>
        </p:txBody>
      </p:sp>
      <p:sp>
        <p:nvSpPr>
          <p:cNvPr id="175" name="Google Shape;175;p17"/>
          <p:cNvSpPr txBox="1"/>
          <p:nvPr/>
        </p:nvSpPr>
        <p:spPr>
          <a:xfrm>
            <a:off x="676275" y="4214812"/>
            <a:ext cx="171450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0EA5E9"/>
                </a:solidFill>
                <a:latin typeface="Inter"/>
                <a:ea typeface="Inter"/>
                <a:cs typeface="Inter"/>
                <a:sym typeface="Inter"/>
              </a:rPr>
              <a:t>→</a:t>
            </a:r>
            <a:endParaRPr/>
          </a:p>
        </p:txBody>
      </p:sp>
      <p:sp>
        <p:nvSpPr>
          <p:cNvPr id="176" name="Google Shape;176;p17"/>
          <p:cNvSpPr txBox="1"/>
          <p:nvPr/>
        </p:nvSpPr>
        <p:spPr>
          <a:xfrm>
            <a:off x="800100" y="533400"/>
            <a:ext cx="11301412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АРХИТЕКТУРНА СТРУКТУРА</a:t>
            </a:r>
            <a:endParaRPr/>
          </a:p>
        </p:txBody>
      </p:sp>
      <p:sp>
        <p:nvSpPr>
          <p:cNvPr id="177" name="Google Shape;177;p17"/>
          <p:cNvSpPr/>
          <p:nvPr/>
        </p:nvSpPr>
        <p:spPr>
          <a:xfrm>
            <a:off x="628650" y="533400"/>
            <a:ext cx="57150" cy="30480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2" name="Google Shape;182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p18"/>
          <p:cNvSpPr txBox="1"/>
          <p:nvPr/>
        </p:nvSpPr>
        <p:spPr>
          <a:xfrm>
            <a:off x="752475" y="581025"/>
            <a:ext cx="536067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БАЗА ДАННИ (ERD)</a:t>
            </a:r>
            <a:endParaRPr/>
          </a:p>
        </p:txBody>
      </p:sp>
      <p:sp>
        <p:nvSpPr>
          <p:cNvPr id="184" name="Google Shape;184;p18"/>
          <p:cNvSpPr/>
          <p:nvPr/>
        </p:nvSpPr>
        <p:spPr>
          <a:xfrm>
            <a:off x="581025" y="581025"/>
            <a:ext cx="57150" cy="30480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5" name="Google Shape;185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9525"/>
            <a:ext cx="584835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6" name="Google Shape;186;p18"/>
          <p:cNvSpPr txBox="1"/>
          <p:nvPr/>
        </p:nvSpPr>
        <p:spPr>
          <a:xfrm>
            <a:off x="581025" y="2528887"/>
            <a:ext cx="5540692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975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Релационен модел в MySQL</a:t>
            </a:r>
            <a:endParaRPr/>
          </a:p>
        </p:txBody>
      </p:sp>
      <p:sp>
        <p:nvSpPr>
          <p:cNvPr id="187" name="Google Shape;187;p18"/>
          <p:cNvSpPr txBox="1"/>
          <p:nvPr/>
        </p:nvSpPr>
        <p:spPr>
          <a:xfrm>
            <a:off x="581025" y="2957512"/>
            <a:ext cx="5276850" cy="428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Моделът данни се състои от 12 силно нормализирани таблици, съхраняващи пълната бизнес логика на carpool платформата:</a:t>
            </a:r>
            <a:endParaRPr/>
          </a:p>
        </p:txBody>
      </p:sp>
      <p:pic>
        <p:nvPicPr>
          <p:cNvPr id="188" name="Google Shape;188;p1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81025" y="2576512"/>
            <a:ext cx="180975" cy="209550"/>
          </a:xfrm>
          <a:prstGeom prst="rect">
            <a:avLst/>
          </a:prstGeom>
          <a:noFill/>
          <a:ln>
            <a:noFill/>
          </a:ln>
        </p:spPr>
      </p:pic>
      <p:sp>
        <p:nvSpPr>
          <p:cNvPr id="189" name="Google Shape;189;p18"/>
          <p:cNvSpPr txBox="1"/>
          <p:nvPr/>
        </p:nvSpPr>
        <p:spPr>
          <a:xfrm>
            <a:off x="847725" y="3500437"/>
            <a:ext cx="501015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users &amp; wallets:</a:t>
            </a:r>
            <a:r>
              <a:rPr lang="en-US" sz="12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Профили, роли и финансова свързаност.</a:t>
            </a:r>
            <a:endParaRPr/>
          </a:p>
        </p:txBody>
      </p:sp>
      <p:sp>
        <p:nvSpPr>
          <p:cNvPr id="190" name="Google Shape;190;p18"/>
          <p:cNvSpPr txBox="1"/>
          <p:nvPr/>
        </p:nvSpPr>
        <p:spPr>
          <a:xfrm>
            <a:off x="847725" y="3843337"/>
            <a:ext cx="501015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rides &amp; ride_stops:</a:t>
            </a:r>
            <a:r>
              <a:rPr lang="en-US" sz="12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Пътувания и междинни спирки по маршрута.</a:t>
            </a:r>
            <a:endParaRPr/>
          </a:p>
        </p:txBody>
      </p:sp>
      <p:sp>
        <p:nvSpPr>
          <p:cNvPr id="191" name="Google Shape;191;p18"/>
          <p:cNvSpPr txBox="1"/>
          <p:nvPr/>
        </p:nvSpPr>
        <p:spPr>
          <a:xfrm>
            <a:off x="847725" y="4186237"/>
            <a:ext cx="501015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bookings &amp; payments:</a:t>
            </a:r>
            <a:r>
              <a:rPr lang="en-US" sz="12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Транзакции през Stripe Checkout.</a:t>
            </a:r>
            <a:endParaRPr/>
          </a:p>
        </p:txBody>
      </p:sp>
      <p:sp>
        <p:nvSpPr>
          <p:cNvPr id="192" name="Google Shape;192;p18"/>
          <p:cNvSpPr txBox="1"/>
          <p:nvPr/>
        </p:nvSpPr>
        <p:spPr>
          <a:xfrm>
            <a:off x="847725" y="4529137"/>
            <a:ext cx="501015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conversations &amp; messages:</a:t>
            </a:r>
            <a:r>
              <a:rPr lang="en-US" sz="12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Вътрешна комуникация.</a:t>
            </a:r>
            <a:endParaRPr/>
          </a:p>
        </p:txBody>
      </p:sp>
      <p:sp>
        <p:nvSpPr>
          <p:cNvPr id="193" name="Google Shape;193;p18"/>
          <p:cNvSpPr txBox="1"/>
          <p:nvPr/>
        </p:nvSpPr>
        <p:spPr>
          <a:xfrm>
            <a:off x="628650" y="3500437"/>
            <a:ext cx="171450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0EA5E9"/>
                </a:solidFill>
                <a:latin typeface="Inter"/>
                <a:ea typeface="Inter"/>
                <a:cs typeface="Inter"/>
                <a:sym typeface="Inter"/>
              </a:rPr>
              <a:t>→</a:t>
            </a:r>
            <a:endParaRPr/>
          </a:p>
        </p:txBody>
      </p:sp>
      <p:sp>
        <p:nvSpPr>
          <p:cNvPr id="194" name="Google Shape;194;p18"/>
          <p:cNvSpPr txBox="1"/>
          <p:nvPr/>
        </p:nvSpPr>
        <p:spPr>
          <a:xfrm>
            <a:off x="628650" y="3843337"/>
            <a:ext cx="171450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0EA5E9"/>
                </a:solidFill>
                <a:latin typeface="Inter"/>
                <a:ea typeface="Inter"/>
                <a:cs typeface="Inter"/>
                <a:sym typeface="Inter"/>
              </a:rPr>
              <a:t>→</a:t>
            </a:r>
            <a:endParaRPr/>
          </a:p>
        </p:txBody>
      </p:sp>
      <p:sp>
        <p:nvSpPr>
          <p:cNvPr id="195" name="Google Shape;195;p18"/>
          <p:cNvSpPr txBox="1"/>
          <p:nvPr/>
        </p:nvSpPr>
        <p:spPr>
          <a:xfrm>
            <a:off x="628650" y="4186237"/>
            <a:ext cx="171450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0EA5E9"/>
                </a:solidFill>
                <a:latin typeface="Inter"/>
                <a:ea typeface="Inter"/>
                <a:cs typeface="Inter"/>
                <a:sym typeface="Inter"/>
              </a:rPr>
              <a:t>→</a:t>
            </a:r>
            <a:endParaRPr/>
          </a:p>
        </p:txBody>
      </p:sp>
      <p:sp>
        <p:nvSpPr>
          <p:cNvPr id="196" name="Google Shape;196;p18"/>
          <p:cNvSpPr txBox="1"/>
          <p:nvPr/>
        </p:nvSpPr>
        <p:spPr>
          <a:xfrm>
            <a:off x="628650" y="4529137"/>
            <a:ext cx="171450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0EA5E9"/>
                </a:solidFill>
                <a:latin typeface="Inter"/>
                <a:ea typeface="Inter"/>
                <a:cs typeface="Inter"/>
                <a:sym typeface="Inter"/>
              </a:rPr>
              <a:t>→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1" name="Google Shape;201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2" name="Google Shape;202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8650" y="2243137"/>
            <a:ext cx="5276850" cy="2914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3" name="Google Shape;203;p1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286500" y="2243137"/>
            <a:ext cx="5276850" cy="2914650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04;p19"/>
          <p:cNvSpPr txBox="1"/>
          <p:nvPr/>
        </p:nvSpPr>
        <p:spPr>
          <a:xfrm>
            <a:off x="1238250" y="2481262"/>
            <a:ext cx="4610576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EA5E9"/>
                </a:solidFill>
                <a:latin typeface="Poppins"/>
                <a:ea typeface="Poppins"/>
                <a:cs typeface="Poppins"/>
                <a:sym typeface="Poppins"/>
              </a:rPr>
              <a:t>Роли и достъп (RBAC)</a:t>
            </a:r>
            <a:endParaRPr/>
          </a:p>
        </p:txBody>
      </p:sp>
      <p:sp>
        <p:nvSpPr>
          <p:cNvPr id="205" name="Google Shape;205;p19"/>
          <p:cNvSpPr txBox="1"/>
          <p:nvPr/>
        </p:nvSpPr>
        <p:spPr>
          <a:xfrm>
            <a:off x="904875" y="2881312"/>
            <a:ext cx="4724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Ясна разделителна линия според ролята на потребителя в системата:</a:t>
            </a:r>
            <a:endParaRPr/>
          </a:p>
        </p:txBody>
      </p:sp>
      <p:sp>
        <p:nvSpPr>
          <p:cNvPr id="206" name="Google Shape;206;p19"/>
          <p:cNvSpPr txBox="1"/>
          <p:nvPr/>
        </p:nvSpPr>
        <p:spPr>
          <a:xfrm>
            <a:off x="6877050" y="2709862"/>
            <a:ext cx="4630578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EA5E9"/>
                </a:solidFill>
                <a:latin typeface="Poppins"/>
                <a:ea typeface="Poppins"/>
                <a:cs typeface="Poppins"/>
                <a:sym typeface="Poppins"/>
              </a:rPr>
              <a:t>Потребителски цикъл</a:t>
            </a:r>
            <a:endParaRPr/>
          </a:p>
        </p:txBody>
      </p:sp>
      <p:sp>
        <p:nvSpPr>
          <p:cNvPr id="207" name="Google Shape;207;p19"/>
          <p:cNvSpPr txBox="1"/>
          <p:nvPr/>
        </p:nvSpPr>
        <p:spPr>
          <a:xfrm>
            <a:off x="6591300" y="3109912"/>
            <a:ext cx="4695825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Пълен интегриран цикъл в рамките на едно уеб приложение:</a:t>
            </a:r>
            <a:endParaRPr/>
          </a:p>
        </p:txBody>
      </p:sp>
      <p:pic>
        <p:nvPicPr>
          <p:cNvPr id="208" name="Google Shape;208;p19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04875" y="2528887"/>
            <a:ext cx="238125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209" name="Google Shape;209;p19"/>
          <p:cNvSpPr txBox="1"/>
          <p:nvPr/>
        </p:nvSpPr>
        <p:spPr>
          <a:xfrm>
            <a:off x="1171575" y="3433762"/>
            <a:ext cx="44577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Пътник (ROLE_PASSENGER):</a:t>
            </a:r>
            <a:r>
              <a:rPr lang="en-US" sz="12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Търси, резервира и заплаща.</a:t>
            </a:r>
            <a:endParaRPr/>
          </a:p>
        </p:txBody>
      </p:sp>
      <p:sp>
        <p:nvSpPr>
          <p:cNvPr id="210" name="Google Shape;210;p19"/>
          <p:cNvSpPr txBox="1"/>
          <p:nvPr/>
        </p:nvSpPr>
        <p:spPr>
          <a:xfrm>
            <a:off x="1171575" y="3776662"/>
            <a:ext cx="44577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Шофьор (ROLE_DRIVER):</a:t>
            </a:r>
            <a:r>
              <a:rPr lang="en-US" sz="12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Създава пътувания и одобрява заявки.</a:t>
            </a:r>
            <a:endParaRPr/>
          </a:p>
        </p:txBody>
      </p:sp>
      <p:sp>
        <p:nvSpPr>
          <p:cNvPr id="211" name="Google Shape;211;p19"/>
          <p:cNvSpPr txBox="1"/>
          <p:nvPr/>
        </p:nvSpPr>
        <p:spPr>
          <a:xfrm>
            <a:off x="1171575" y="4348162"/>
            <a:ext cx="44577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Администратор (ROLE_ADMIN):</a:t>
            </a:r>
            <a:r>
              <a:rPr lang="en-US" sz="12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Управлява сигурността и акаунтите.</a:t>
            </a:r>
            <a:endParaRPr/>
          </a:p>
        </p:txBody>
      </p:sp>
      <p:pic>
        <p:nvPicPr>
          <p:cNvPr id="212" name="Google Shape;212;p19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591300" y="2757487"/>
            <a:ext cx="190500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213" name="Google Shape;213;p19"/>
          <p:cNvSpPr txBox="1"/>
          <p:nvPr/>
        </p:nvSpPr>
        <p:spPr>
          <a:xfrm>
            <a:off x="6858000" y="3433762"/>
            <a:ext cx="4429125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Публикуване → Търсене с филтрация → Карта.</a:t>
            </a:r>
            <a:endParaRPr/>
          </a:p>
        </p:txBody>
      </p:sp>
      <p:sp>
        <p:nvSpPr>
          <p:cNvPr id="214" name="Google Shape;214;p19"/>
          <p:cNvSpPr txBox="1"/>
          <p:nvPr/>
        </p:nvSpPr>
        <p:spPr>
          <a:xfrm>
            <a:off x="6858000" y="3776662"/>
            <a:ext cx="4429125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Заявка (Pending) → Одобрение от шофьор → Плащане.</a:t>
            </a:r>
            <a:endParaRPr/>
          </a:p>
        </p:txBody>
      </p:sp>
      <p:sp>
        <p:nvSpPr>
          <p:cNvPr id="215" name="Google Shape;215;p19"/>
          <p:cNvSpPr txBox="1"/>
          <p:nvPr/>
        </p:nvSpPr>
        <p:spPr>
          <a:xfrm>
            <a:off x="6858000" y="4119562"/>
            <a:ext cx="4429125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Асинхронна комуникация в реално време и взаимни оценки.</a:t>
            </a:r>
            <a:endParaRPr/>
          </a:p>
        </p:txBody>
      </p:sp>
      <p:sp>
        <p:nvSpPr>
          <p:cNvPr id="216" name="Google Shape;216;p19"/>
          <p:cNvSpPr txBox="1"/>
          <p:nvPr/>
        </p:nvSpPr>
        <p:spPr>
          <a:xfrm>
            <a:off x="952500" y="3433762"/>
            <a:ext cx="171450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0EA5E9"/>
                </a:solidFill>
                <a:latin typeface="Inter"/>
                <a:ea typeface="Inter"/>
                <a:cs typeface="Inter"/>
                <a:sym typeface="Inter"/>
              </a:rPr>
              <a:t>→</a:t>
            </a:r>
            <a:endParaRPr/>
          </a:p>
        </p:txBody>
      </p:sp>
      <p:sp>
        <p:nvSpPr>
          <p:cNvPr id="217" name="Google Shape;217;p19"/>
          <p:cNvSpPr txBox="1"/>
          <p:nvPr/>
        </p:nvSpPr>
        <p:spPr>
          <a:xfrm>
            <a:off x="952500" y="3776662"/>
            <a:ext cx="171450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0EA5E9"/>
                </a:solidFill>
                <a:latin typeface="Inter"/>
                <a:ea typeface="Inter"/>
                <a:cs typeface="Inter"/>
                <a:sym typeface="Inter"/>
              </a:rPr>
              <a:t>→</a:t>
            </a:r>
            <a:endParaRPr/>
          </a:p>
        </p:txBody>
      </p:sp>
      <p:sp>
        <p:nvSpPr>
          <p:cNvPr id="218" name="Google Shape;218;p19"/>
          <p:cNvSpPr txBox="1"/>
          <p:nvPr/>
        </p:nvSpPr>
        <p:spPr>
          <a:xfrm>
            <a:off x="952500" y="4348162"/>
            <a:ext cx="171450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0EA5E9"/>
                </a:solidFill>
                <a:latin typeface="Inter"/>
                <a:ea typeface="Inter"/>
                <a:cs typeface="Inter"/>
                <a:sym typeface="Inter"/>
              </a:rPr>
              <a:t>→</a:t>
            </a:r>
            <a:endParaRPr/>
          </a:p>
        </p:txBody>
      </p:sp>
      <p:sp>
        <p:nvSpPr>
          <p:cNvPr id="219" name="Google Shape;219;p19"/>
          <p:cNvSpPr txBox="1"/>
          <p:nvPr/>
        </p:nvSpPr>
        <p:spPr>
          <a:xfrm>
            <a:off x="6638925" y="3433762"/>
            <a:ext cx="171450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0EA5E9"/>
                </a:solidFill>
                <a:latin typeface="Inter"/>
                <a:ea typeface="Inter"/>
                <a:cs typeface="Inter"/>
                <a:sym typeface="Inter"/>
              </a:rPr>
              <a:t>→</a:t>
            </a:r>
            <a:endParaRPr/>
          </a:p>
        </p:txBody>
      </p:sp>
      <p:sp>
        <p:nvSpPr>
          <p:cNvPr id="220" name="Google Shape;220;p19"/>
          <p:cNvSpPr txBox="1"/>
          <p:nvPr/>
        </p:nvSpPr>
        <p:spPr>
          <a:xfrm>
            <a:off x="6638925" y="3776662"/>
            <a:ext cx="171450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0EA5E9"/>
                </a:solidFill>
                <a:latin typeface="Inter"/>
                <a:ea typeface="Inter"/>
                <a:cs typeface="Inter"/>
                <a:sym typeface="Inter"/>
              </a:rPr>
              <a:t>→</a:t>
            </a:r>
            <a:endParaRPr/>
          </a:p>
        </p:txBody>
      </p:sp>
      <p:sp>
        <p:nvSpPr>
          <p:cNvPr id="221" name="Google Shape;221;p19"/>
          <p:cNvSpPr txBox="1"/>
          <p:nvPr/>
        </p:nvSpPr>
        <p:spPr>
          <a:xfrm>
            <a:off x="6638925" y="4119562"/>
            <a:ext cx="171450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0EA5E9"/>
                </a:solidFill>
                <a:latin typeface="Inter"/>
                <a:ea typeface="Inter"/>
                <a:cs typeface="Inter"/>
                <a:sym typeface="Inter"/>
              </a:rPr>
              <a:t>→</a:t>
            </a:r>
            <a:endParaRPr/>
          </a:p>
        </p:txBody>
      </p:sp>
      <p:sp>
        <p:nvSpPr>
          <p:cNvPr id="222" name="Google Shape;222;p19"/>
          <p:cNvSpPr txBox="1"/>
          <p:nvPr/>
        </p:nvSpPr>
        <p:spPr>
          <a:xfrm>
            <a:off x="800100" y="533400"/>
            <a:ext cx="11301412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ОСНОВНИ ФУНКЦИОНАЛНОСТИ</a:t>
            </a:r>
            <a:endParaRPr/>
          </a:p>
        </p:txBody>
      </p:sp>
      <p:sp>
        <p:nvSpPr>
          <p:cNvPr id="223" name="Google Shape;223;p19"/>
          <p:cNvSpPr/>
          <p:nvPr/>
        </p:nvSpPr>
        <p:spPr>
          <a:xfrm>
            <a:off x="628650" y="533400"/>
            <a:ext cx="57150" cy="30480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8" name="Google Shape;228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9" name="Google Shape;229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86500" y="1890712"/>
            <a:ext cx="5276850" cy="3619500"/>
          </a:xfrm>
          <a:prstGeom prst="rect">
            <a:avLst/>
          </a:prstGeom>
          <a:noFill/>
          <a:ln>
            <a:noFill/>
          </a:ln>
        </p:spPr>
      </p:pic>
      <p:sp>
        <p:nvSpPr>
          <p:cNvPr id="230" name="Google Shape;230;p20"/>
          <p:cNvSpPr txBox="1"/>
          <p:nvPr/>
        </p:nvSpPr>
        <p:spPr>
          <a:xfrm>
            <a:off x="628650" y="2614612"/>
            <a:ext cx="5540692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38125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Транзакции и карти</a:t>
            </a:r>
            <a:endParaRPr/>
          </a:p>
        </p:txBody>
      </p:sp>
      <p:pic>
        <p:nvPicPr>
          <p:cNvPr id="231" name="Google Shape;231;p2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28650" y="2662237"/>
            <a:ext cx="238125" cy="209550"/>
          </a:xfrm>
          <a:prstGeom prst="rect">
            <a:avLst/>
          </a:prstGeom>
          <a:noFill/>
          <a:ln>
            <a:noFill/>
          </a:ln>
        </p:spPr>
      </p:pic>
      <p:sp>
        <p:nvSpPr>
          <p:cNvPr id="232" name="Google Shape;232;p20"/>
          <p:cNvSpPr txBox="1"/>
          <p:nvPr/>
        </p:nvSpPr>
        <p:spPr>
          <a:xfrm>
            <a:off x="895350" y="3071812"/>
            <a:ext cx="501015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Интерактивна карта (Leaflet):</a:t>
            </a:r>
            <a:r>
              <a:rPr lang="en-US" sz="12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Дава възможност на пътника да посочи своята локация за качване и визуализира маршрута.</a:t>
            </a:r>
            <a:endParaRPr/>
          </a:p>
        </p:txBody>
      </p:sp>
      <p:sp>
        <p:nvSpPr>
          <p:cNvPr id="233" name="Google Shape;233;p20"/>
          <p:cNvSpPr txBox="1"/>
          <p:nvPr/>
        </p:nvSpPr>
        <p:spPr>
          <a:xfrm>
            <a:off x="895350" y="3643312"/>
            <a:ext cx="501015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Stripe Checkout (Плащане с карта):</a:t>
            </a:r>
            <a:r>
              <a:rPr lang="en-US" sz="12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Сигурни картови плащания с webhook интеграция за автоматична промяна на статуса в базата.</a:t>
            </a:r>
            <a:endParaRPr/>
          </a:p>
        </p:txBody>
      </p:sp>
      <p:sp>
        <p:nvSpPr>
          <p:cNvPr id="234" name="Google Shape;234;p20"/>
          <p:cNvSpPr txBox="1"/>
          <p:nvPr/>
        </p:nvSpPr>
        <p:spPr>
          <a:xfrm>
            <a:off x="895350" y="4214812"/>
            <a:ext cx="501015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Известия и чат:</a:t>
            </a:r>
            <a:r>
              <a:rPr lang="en-US" sz="12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Потребителите получават динамични нотификации при промяна в жизнения цикъл на резервациите.</a:t>
            </a:r>
            <a:endParaRPr/>
          </a:p>
        </p:txBody>
      </p:sp>
      <p:pic>
        <p:nvPicPr>
          <p:cNvPr id="235" name="Google Shape;235;p20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296025" y="1900237"/>
            <a:ext cx="5257800" cy="3600450"/>
          </a:xfrm>
          <a:prstGeom prst="rect">
            <a:avLst/>
          </a:prstGeom>
          <a:noFill/>
          <a:ln>
            <a:noFill/>
          </a:ln>
        </p:spPr>
      </p:pic>
      <p:sp>
        <p:nvSpPr>
          <p:cNvPr id="236" name="Google Shape;236;p20"/>
          <p:cNvSpPr txBox="1"/>
          <p:nvPr/>
        </p:nvSpPr>
        <p:spPr>
          <a:xfrm>
            <a:off x="676275" y="3071812"/>
            <a:ext cx="171450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0EA5E9"/>
                </a:solidFill>
                <a:latin typeface="Inter"/>
                <a:ea typeface="Inter"/>
                <a:cs typeface="Inter"/>
                <a:sym typeface="Inter"/>
              </a:rPr>
              <a:t>→</a:t>
            </a:r>
            <a:endParaRPr/>
          </a:p>
        </p:txBody>
      </p:sp>
      <p:sp>
        <p:nvSpPr>
          <p:cNvPr id="237" name="Google Shape;237;p20"/>
          <p:cNvSpPr txBox="1"/>
          <p:nvPr/>
        </p:nvSpPr>
        <p:spPr>
          <a:xfrm>
            <a:off x="676275" y="3643312"/>
            <a:ext cx="171450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0EA5E9"/>
                </a:solidFill>
                <a:latin typeface="Inter"/>
                <a:ea typeface="Inter"/>
                <a:cs typeface="Inter"/>
                <a:sym typeface="Inter"/>
              </a:rPr>
              <a:t>→</a:t>
            </a:r>
            <a:endParaRPr/>
          </a:p>
        </p:txBody>
      </p:sp>
      <p:sp>
        <p:nvSpPr>
          <p:cNvPr id="238" name="Google Shape;238;p20"/>
          <p:cNvSpPr txBox="1"/>
          <p:nvPr/>
        </p:nvSpPr>
        <p:spPr>
          <a:xfrm>
            <a:off x="676275" y="4214812"/>
            <a:ext cx="171450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0EA5E9"/>
                </a:solidFill>
                <a:latin typeface="Inter"/>
                <a:ea typeface="Inter"/>
                <a:cs typeface="Inter"/>
                <a:sym typeface="Inter"/>
              </a:rPr>
              <a:t>→</a:t>
            </a:r>
            <a:endParaRPr/>
          </a:p>
        </p:txBody>
      </p:sp>
      <p:sp>
        <p:nvSpPr>
          <p:cNvPr id="239" name="Google Shape;239;p20"/>
          <p:cNvSpPr txBox="1"/>
          <p:nvPr/>
        </p:nvSpPr>
        <p:spPr>
          <a:xfrm>
            <a:off x="800100" y="533400"/>
            <a:ext cx="11301412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ПРАКТИЧЕСКА РЕАЛИЗАЦИЯ</a:t>
            </a:r>
            <a:endParaRPr/>
          </a:p>
        </p:txBody>
      </p:sp>
      <p:sp>
        <p:nvSpPr>
          <p:cNvPr id="240" name="Google Shape;240;p20"/>
          <p:cNvSpPr/>
          <p:nvPr/>
        </p:nvSpPr>
        <p:spPr>
          <a:xfrm>
            <a:off x="628650" y="533400"/>
            <a:ext cx="57150" cy="30480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5" name="Google Shape;245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6" name="Google Shape;246;p2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8650" y="2519362"/>
            <a:ext cx="5276850" cy="2362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7" name="Google Shape;247;p21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286500" y="2519362"/>
            <a:ext cx="5276850" cy="2362200"/>
          </a:xfrm>
          <a:prstGeom prst="rect">
            <a:avLst/>
          </a:prstGeom>
          <a:noFill/>
          <a:ln>
            <a:noFill/>
          </a:ln>
        </p:spPr>
      </p:pic>
      <p:sp>
        <p:nvSpPr>
          <p:cNvPr id="248" name="Google Shape;248;p21"/>
          <p:cNvSpPr txBox="1"/>
          <p:nvPr/>
        </p:nvSpPr>
        <p:spPr>
          <a:xfrm>
            <a:off x="1238250" y="2757487"/>
            <a:ext cx="4610576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EA5E9"/>
                </a:solidFill>
                <a:latin typeface="Poppins"/>
                <a:ea typeface="Poppins"/>
                <a:cs typeface="Poppins"/>
                <a:sym typeface="Poppins"/>
              </a:rPr>
              <a:t>Функционално тестване</a:t>
            </a:r>
            <a:endParaRPr/>
          </a:p>
        </p:txBody>
      </p:sp>
      <p:sp>
        <p:nvSpPr>
          <p:cNvPr id="249" name="Google Shape;249;p21"/>
          <p:cNvSpPr txBox="1"/>
          <p:nvPr/>
        </p:nvSpPr>
        <p:spPr>
          <a:xfrm>
            <a:off x="904875" y="3157537"/>
            <a:ext cx="4724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Извършени са мащабни единични тестове (Unit Tests) над Service слоя на Spring Boot проекта.</a:t>
            </a:r>
            <a:endParaRPr/>
          </a:p>
        </p:txBody>
      </p:sp>
      <p:sp>
        <p:nvSpPr>
          <p:cNvPr id="250" name="Google Shape;250;p21"/>
          <p:cNvSpPr txBox="1"/>
          <p:nvPr/>
        </p:nvSpPr>
        <p:spPr>
          <a:xfrm>
            <a:off x="904875" y="3729037"/>
            <a:ext cx="47244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Използвана е тестовата рамка </a:t>
            </a:r>
            <a:r>
              <a:rPr lang="en-US" sz="1200" b="1" i="0" u="none" strike="noStrike" cap="non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JUnit 5</a:t>
            </a:r>
            <a:r>
              <a:rPr lang="en-US" sz="12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в комбинация с </a:t>
            </a:r>
            <a:r>
              <a:rPr lang="en-US" sz="1200" b="1" i="0" u="none" strike="noStrike" cap="non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Mockito</a:t>
            </a:r>
            <a:r>
              <a:rPr lang="en-US" sz="12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за изолиране на зависимостите и тестване на гранични бизнес условия (напр. резервация при нула свободни места).</a:t>
            </a:r>
            <a:endParaRPr/>
          </a:p>
        </p:txBody>
      </p:sp>
      <p:sp>
        <p:nvSpPr>
          <p:cNvPr id="251" name="Google Shape;251;p21"/>
          <p:cNvSpPr txBox="1"/>
          <p:nvPr/>
        </p:nvSpPr>
        <p:spPr>
          <a:xfrm>
            <a:off x="6924675" y="2867025"/>
            <a:ext cx="4580572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EA5E9"/>
                </a:solidFill>
                <a:latin typeface="Poppins"/>
                <a:ea typeface="Poppins"/>
                <a:cs typeface="Poppins"/>
                <a:sym typeface="Poppins"/>
              </a:rPr>
              <a:t>Качество на UX процеса</a:t>
            </a:r>
            <a:endParaRPr/>
          </a:p>
        </p:txBody>
      </p:sp>
      <p:sp>
        <p:nvSpPr>
          <p:cNvPr id="252" name="Google Shape;252;p21"/>
          <p:cNvSpPr txBox="1"/>
          <p:nvPr/>
        </p:nvSpPr>
        <p:spPr>
          <a:xfrm>
            <a:off x="6591300" y="3267075"/>
            <a:ext cx="4695825" cy="466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Интегрирано е централизирано прихващане на грешки чрез сървърен GlobalExceptionHandler.</a:t>
            </a:r>
            <a:endParaRPr/>
          </a:p>
        </p:txBody>
      </p:sp>
      <p:sp>
        <p:nvSpPr>
          <p:cNvPr id="253" name="Google Shape;253;p21"/>
          <p:cNvSpPr txBox="1"/>
          <p:nvPr/>
        </p:nvSpPr>
        <p:spPr>
          <a:xfrm>
            <a:off x="6591300" y="3848100"/>
            <a:ext cx="4695825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Връщат се стандартизирани JSON отговори с ясни кодове. На клиента грешките се визуализират с потребителски съобщения и достъпни тостове.</a:t>
            </a:r>
            <a:endParaRPr/>
          </a:p>
        </p:txBody>
      </p:sp>
      <p:pic>
        <p:nvPicPr>
          <p:cNvPr id="254" name="Google Shape;254;p21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04875" y="2805112"/>
            <a:ext cx="238125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5" name="Google Shape;255;p21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591300" y="2914650"/>
            <a:ext cx="238125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256" name="Google Shape;256;p21"/>
          <p:cNvSpPr txBox="1"/>
          <p:nvPr/>
        </p:nvSpPr>
        <p:spPr>
          <a:xfrm>
            <a:off x="800100" y="533400"/>
            <a:ext cx="11301412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ВЕРИФИКАЦИЯ И ТЕСТОВЕ</a:t>
            </a:r>
            <a:endParaRPr/>
          </a:p>
        </p:txBody>
      </p:sp>
      <p:sp>
        <p:nvSpPr>
          <p:cNvPr id="257" name="Google Shape;257;p21"/>
          <p:cNvSpPr/>
          <p:nvPr/>
        </p:nvSpPr>
        <p:spPr>
          <a:xfrm>
            <a:off x="628650" y="533400"/>
            <a:ext cx="57150" cy="30480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2" name="Google Shape;262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3" name="Google Shape;263;p2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962400" y="3919537"/>
            <a:ext cx="4267200" cy="1314450"/>
          </a:xfrm>
          <a:prstGeom prst="rect">
            <a:avLst/>
          </a:prstGeom>
          <a:noFill/>
          <a:ln>
            <a:noFill/>
          </a:ln>
        </p:spPr>
      </p:pic>
      <p:sp>
        <p:nvSpPr>
          <p:cNvPr id="264" name="Google Shape;264;p22"/>
          <p:cNvSpPr txBox="1"/>
          <p:nvPr/>
        </p:nvSpPr>
        <p:spPr>
          <a:xfrm>
            <a:off x="2946235" y="1624012"/>
            <a:ext cx="6299381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Благодаря за вниманието!</a:t>
            </a:r>
            <a:endParaRPr/>
          </a:p>
        </p:txBody>
      </p:sp>
      <p:sp>
        <p:nvSpPr>
          <p:cNvPr id="265" name="Google Shape;265;p22"/>
          <p:cNvSpPr txBox="1"/>
          <p:nvPr/>
        </p:nvSpPr>
        <p:spPr>
          <a:xfrm>
            <a:off x="4028397" y="2424112"/>
            <a:ext cx="4135204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EA5E9"/>
                </a:solidFill>
                <a:latin typeface="Poppins"/>
                <a:ea typeface="Poppins"/>
                <a:cs typeface="Poppins"/>
                <a:sym typeface="Poppins"/>
              </a:rPr>
              <a:t>Дипломна работа — Въпроси и коментари</a:t>
            </a:r>
            <a:endParaRPr/>
          </a:p>
        </p:txBody>
      </p:sp>
      <p:sp>
        <p:nvSpPr>
          <p:cNvPr id="266" name="Google Shape;266;p22"/>
          <p:cNvSpPr txBox="1"/>
          <p:nvPr/>
        </p:nvSpPr>
        <p:spPr>
          <a:xfrm>
            <a:off x="2047875" y="2995612"/>
            <a:ext cx="809625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Разработената софтуерна уеб платформа успешно заменя фрагментираните и несигурни Facebook канали за споделено придвижване у нас. Използваният технологичен стек Spring Boot + React предлага висока мащабируемост, надеждност на данните и отлично UX преживяване.</a:t>
            </a:r>
            <a:endParaRPr/>
          </a:p>
        </p:txBody>
      </p:sp>
      <p:sp>
        <p:nvSpPr>
          <p:cNvPr id="267" name="Google Shape;267;p22"/>
          <p:cNvSpPr txBox="1"/>
          <p:nvPr/>
        </p:nvSpPr>
        <p:spPr>
          <a:xfrm>
            <a:off x="4400550" y="4157662"/>
            <a:ext cx="33909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Дипломант: </a:t>
            </a:r>
            <a:r>
              <a:rPr lang="en-US" sz="1200" b="1" i="0" u="none" strike="noStrike" cap="non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Марин Ангелов Митев</a:t>
            </a:r>
            <a:endParaRPr/>
          </a:p>
        </p:txBody>
      </p:sp>
      <p:sp>
        <p:nvSpPr>
          <p:cNvPr id="268" name="Google Shape;268;p22"/>
          <p:cNvSpPr txBox="1"/>
          <p:nvPr/>
        </p:nvSpPr>
        <p:spPr>
          <a:xfrm>
            <a:off x="4400550" y="4462462"/>
            <a:ext cx="33909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Научен ръководител: </a:t>
            </a:r>
            <a:r>
              <a:rPr lang="en-US" sz="1200" b="1" i="0" u="none" strike="noStrike" cap="non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ас. инж. Богдан Данов</a:t>
            </a:r>
            <a:endParaRPr/>
          </a:p>
        </p:txBody>
      </p:sp>
      <p:sp>
        <p:nvSpPr>
          <p:cNvPr id="269" name="Google Shape;269;p22"/>
          <p:cNvSpPr txBox="1"/>
          <p:nvPr/>
        </p:nvSpPr>
        <p:spPr>
          <a:xfrm>
            <a:off x="4400550" y="4767262"/>
            <a:ext cx="33909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Контакт: </a:t>
            </a:r>
            <a:r>
              <a:rPr lang="en-US" sz="1200" b="1" i="0" u="none" strike="noStrike" cap="non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marinpz30@gmail.com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4" name="Google Shape;274;p2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75" name="Google Shape;275;p23"/>
          <p:cNvSpPr/>
          <p:nvPr/>
        </p:nvSpPr>
        <p:spPr>
          <a:xfrm>
            <a:off x="628650" y="2547937"/>
            <a:ext cx="10934700" cy="771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23"/>
          <p:cNvSpPr/>
          <p:nvPr/>
        </p:nvSpPr>
        <p:spPr>
          <a:xfrm>
            <a:off x="628650" y="3319462"/>
            <a:ext cx="10934700" cy="771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23"/>
          <p:cNvSpPr/>
          <p:nvPr/>
        </p:nvSpPr>
        <p:spPr>
          <a:xfrm>
            <a:off x="628650" y="3309937"/>
            <a:ext cx="109347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23"/>
          <p:cNvSpPr/>
          <p:nvPr/>
        </p:nvSpPr>
        <p:spPr>
          <a:xfrm>
            <a:off x="628650" y="3309937"/>
            <a:ext cx="109347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23"/>
          <p:cNvSpPr/>
          <p:nvPr/>
        </p:nvSpPr>
        <p:spPr>
          <a:xfrm>
            <a:off x="628650" y="4081462"/>
            <a:ext cx="109347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23"/>
          <p:cNvSpPr/>
          <p:nvPr/>
        </p:nvSpPr>
        <p:spPr>
          <a:xfrm>
            <a:off x="628650" y="4081462"/>
            <a:ext cx="109347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1" name="Google Shape;281;p2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8650" y="2690812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82" name="Google Shape;282;p23"/>
          <p:cNvSpPr txBox="1"/>
          <p:nvPr/>
        </p:nvSpPr>
        <p:spPr>
          <a:xfrm>
            <a:off x="1724025" y="2697956"/>
            <a:ext cx="9839325" cy="185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https://i.ytimg.com/vi/1suDMh2sy_M/maxresdefault.jpg</a:t>
            </a:r>
            <a:endParaRPr/>
          </a:p>
        </p:txBody>
      </p:sp>
      <p:sp>
        <p:nvSpPr>
          <p:cNvPr id="283" name="Google Shape;283;p23"/>
          <p:cNvSpPr txBox="1"/>
          <p:nvPr/>
        </p:nvSpPr>
        <p:spPr>
          <a:xfrm>
            <a:off x="1724025" y="2931318"/>
            <a:ext cx="9839325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Source: </a:t>
            </a:r>
            <a:r>
              <a:rPr lang="en-US" sz="1200" b="0" i="0" u="none" strike="noStrike" cap="none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www.youtube.com</a:t>
            </a:r>
            <a:endParaRPr/>
          </a:p>
        </p:txBody>
      </p:sp>
      <p:pic>
        <p:nvPicPr>
          <p:cNvPr id="284" name="Google Shape;284;p2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28650" y="3462337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85" name="Google Shape;285;p23"/>
          <p:cNvSpPr txBox="1"/>
          <p:nvPr/>
        </p:nvSpPr>
        <p:spPr>
          <a:xfrm>
            <a:off x="1724025" y="3469481"/>
            <a:ext cx="9839325" cy="185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https://media.geeksforgeeks.org/wp-content/uploads/20240222144753/databaseModelforCarpooling.png</a:t>
            </a:r>
            <a:endParaRPr/>
          </a:p>
        </p:txBody>
      </p:sp>
      <p:sp>
        <p:nvSpPr>
          <p:cNvPr id="286" name="Google Shape;286;p23"/>
          <p:cNvSpPr txBox="1"/>
          <p:nvPr/>
        </p:nvSpPr>
        <p:spPr>
          <a:xfrm>
            <a:off x="1724025" y="3702843"/>
            <a:ext cx="9839325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Source: </a:t>
            </a:r>
            <a:r>
              <a:rPr lang="en-US" sz="1200" b="0" i="0" u="none" strike="noStrike" cap="none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www.geeksforgeeks.org</a:t>
            </a:r>
            <a:endParaRPr/>
          </a:p>
        </p:txBody>
      </p:sp>
      <p:pic>
        <p:nvPicPr>
          <p:cNvPr id="287" name="Google Shape;287;p23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28650" y="4233862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88" name="Google Shape;288;p23"/>
          <p:cNvSpPr txBox="1"/>
          <p:nvPr/>
        </p:nvSpPr>
        <p:spPr>
          <a:xfrm>
            <a:off x="1724025" y="4241006"/>
            <a:ext cx="9839325" cy="185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https://www.bookingautomation.com/wiki/images/0/03/Stripe2.png</a:t>
            </a:r>
            <a:endParaRPr/>
          </a:p>
        </p:txBody>
      </p:sp>
      <p:sp>
        <p:nvSpPr>
          <p:cNvPr id="289" name="Google Shape;289;p23"/>
          <p:cNvSpPr txBox="1"/>
          <p:nvPr/>
        </p:nvSpPr>
        <p:spPr>
          <a:xfrm>
            <a:off x="1724025" y="4474368"/>
            <a:ext cx="9839325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Source: </a:t>
            </a:r>
            <a:r>
              <a:rPr lang="en-US" sz="1200" b="0" i="0" u="none" strike="noStrike" cap="none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www.bookingautomation.com</a:t>
            </a:r>
            <a:endParaRPr/>
          </a:p>
        </p:txBody>
      </p:sp>
      <p:sp>
        <p:nvSpPr>
          <p:cNvPr id="290" name="Google Shape;290;p23"/>
          <p:cNvSpPr txBox="1"/>
          <p:nvPr/>
        </p:nvSpPr>
        <p:spPr>
          <a:xfrm>
            <a:off x="800100" y="533400"/>
            <a:ext cx="11301412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IMAGE SOURCES</a:t>
            </a:r>
            <a:endParaRPr/>
          </a:p>
        </p:txBody>
      </p:sp>
      <p:sp>
        <p:nvSpPr>
          <p:cNvPr id="291" name="Google Shape;291;p23"/>
          <p:cNvSpPr/>
          <p:nvPr/>
        </p:nvSpPr>
        <p:spPr>
          <a:xfrm>
            <a:off x="628650" y="533400"/>
            <a:ext cx="57150" cy="30480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817</Words>
  <Application>Microsoft Office PowerPoint</Application>
  <PresentationFormat>Widescreen</PresentationFormat>
  <Paragraphs>110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Arial</vt:lpstr>
      <vt:lpstr>Inter</vt:lpstr>
      <vt:lpstr>Poppins</vt:lpstr>
      <vt:lpstr>Inter SemiBold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Marin Mitev</dc:creator>
  <cp:lastModifiedBy>marin mitev</cp:lastModifiedBy>
  <cp:revision>1</cp:revision>
  <dcterms:modified xsi:type="dcterms:W3CDTF">2026-06-24T11:42:53Z</dcterms:modified>
</cp:coreProperties>
</file>